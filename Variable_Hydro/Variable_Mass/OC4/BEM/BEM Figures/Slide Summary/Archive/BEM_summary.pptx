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1" r:id="rId2"/>
    <p:sldId id="372" r:id="rId3"/>
    <p:sldId id="373" r:id="rId4"/>
    <p:sldId id="392" r:id="rId5"/>
    <p:sldId id="393" r:id="rId6"/>
    <p:sldId id="375" r:id="rId7"/>
    <p:sldId id="374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8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9DD4C-2C51-6381-977D-946A874E8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165D1E6-74E3-D3A1-A811-052CC9CA52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4071490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C3FC213-3EDF-A62E-5741-14DB181BCD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2815540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CE04EF3-923D-201C-649E-9A709AD76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90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98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00C934-D4AA-C547-F254-28EA8656C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53434CCC-6EFD-7C5D-44CF-AC47A1521F7A}"/>
              </a:ext>
            </a:extLst>
          </p:cNvPr>
          <p:cNvSpPr/>
          <p:nvPr userDrawn="1"/>
        </p:nvSpPr>
        <p:spPr>
          <a:xfrm flipH="1">
            <a:off x="4982629" y="1821079"/>
            <a:ext cx="7209371" cy="2813816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33F6BF7D-C346-8B85-15A9-F66E687610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3304883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7FBD040-673B-13F0-63F3-0EBE5D26CD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2048933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FC481-075A-B2B0-6D31-B82D9272AB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90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3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25CB-CD23-F7BC-5267-1CE7E47D5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AAF3343D-5494-2952-6518-2EC533073D3B}"/>
              </a:ext>
            </a:extLst>
          </p:cNvPr>
          <p:cNvSpPr/>
          <p:nvPr userDrawn="1"/>
        </p:nvSpPr>
        <p:spPr>
          <a:xfrm flipH="1">
            <a:off x="4982629" y="1724317"/>
            <a:ext cx="7209371" cy="2813816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ADED627-213A-516F-ADD9-61EDBDA05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3208122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901F51B-893E-1A68-4D61-0BC1304645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1952172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3F896-FDD3-1ED6-72A7-F7A574082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8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42C60-04B2-41B3-C291-AECB8D968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B83B3C1-F54D-D8B9-2D88-22D275C94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564" y="3055490"/>
            <a:ext cx="7989209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E6D7FFE8-F91E-7D4D-B3C4-0A4EDC0217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564" y="1799540"/>
            <a:ext cx="7989209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CF24C-224E-F864-4153-01FC31478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44604" y="439990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8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941F43-0F18-4FF2-503C-B6D2F9CCE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E11A61A-EB8D-2DC7-6470-E03B1016DD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563" y="3055489"/>
            <a:ext cx="7979532" cy="1099813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23F762D-98DA-91B5-8EB3-DE728439F5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563" y="1799540"/>
            <a:ext cx="7979532" cy="1258137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DA84-18CD-86D1-1ADE-9B6482C65F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1291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33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9EC95-41F7-2267-D97D-2564C1DD2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8706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364AE-AD7D-C1B5-C5E2-C5A95DE28D8F}"/>
              </a:ext>
            </a:extLst>
          </p:cNvPr>
          <p:cNvSpPr txBox="1"/>
          <p:nvPr userDrawn="1"/>
        </p:nvSpPr>
        <p:spPr>
          <a:xfrm>
            <a:off x="623273" y="6441283"/>
            <a:ext cx="4506569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National Laboratory of the Rockies 061725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6792AF47-E7C7-1687-986F-424B2B8B44E9}"/>
              </a:ext>
            </a:extLst>
          </p:cNvPr>
          <p:cNvSpPr/>
          <p:nvPr userDrawn="1"/>
        </p:nvSpPr>
        <p:spPr>
          <a:xfrm flipH="1">
            <a:off x="4982629" y="1996709"/>
            <a:ext cx="7209371" cy="2813816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3F29FE1-C7DD-E11D-86DE-1F6185BB5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3480514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D41AAEE-8830-CA65-75B2-FAEBEFEB4D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2224564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37D133-B612-6ACF-5F18-5A8461C90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9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CCF46E-8401-A9EC-5B10-C510F7A87E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AAC0E-AB07-BC2E-5852-EC8D6A6695EF}"/>
              </a:ext>
            </a:extLst>
          </p:cNvPr>
          <p:cNvSpPr txBox="1"/>
          <p:nvPr userDrawn="1"/>
        </p:nvSpPr>
        <p:spPr>
          <a:xfrm>
            <a:off x="623272" y="6441283"/>
            <a:ext cx="3785784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ln>
                  <a:noFill/>
                </a:ln>
                <a:solidFill>
                  <a:schemeClr val="bg1">
                    <a:alpha val="67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from Adobe Stock 256750697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C2E2C6-182B-B6D4-0359-3E61E2CF965E}"/>
              </a:ext>
            </a:extLst>
          </p:cNvPr>
          <p:cNvSpPr/>
          <p:nvPr userDrawn="1"/>
        </p:nvSpPr>
        <p:spPr>
          <a:xfrm flipH="1">
            <a:off x="4982629" y="2909193"/>
            <a:ext cx="7209371" cy="2813816"/>
          </a:xfrm>
          <a:prstGeom prst="round1Rect">
            <a:avLst/>
          </a:prstGeom>
          <a:solidFill>
            <a:schemeClr val="accent1">
              <a:alpha val="7576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4C6B14F-9419-55EC-44A1-9567F3C0B9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4392998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DA675DD-BA42-47B4-AA1B-1B30F0638C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3137047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52E85-7CEF-D49C-29B6-F09A95492F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58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73D906-1FFB-1CF2-B08C-FE077D907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7067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B9B396-1CF7-263B-DE68-7319423F728A}"/>
              </a:ext>
            </a:extLst>
          </p:cNvPr>
          <p:cNvSpPr txBox="1"/>
          <p:nvPr userDrawn="1"/>
        </p:nvSpPr>
        <p:spPr>
          <a:xfrm>
            <a:off x="623272" y="6441283"/>
            <a:ext cx="4299536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>
                    <a:alpha val="74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Agata Bogucka, National Laboratory of the Rockies 091683</a:t>
            </a:r>
          </a:p>
        </p:txBody>
      </p:sp>
      <p:sp>
        <p:nvSpPr>
          <p:cNvPr id="14" name="Round Single Corner Rectangle 13">
            <a:extLst>
              <a:ext uri="{FF2B5EF4-FFF2-40B4-BE49-F238E27FC236}">
                <a16:creationId xmlns:a16="http://schemas.microsoft.com/office/drawing/2014/main" id="{1354C242-52B2-0A8E-DF08-928107CFF092}"/>
              </a:ext>
            </a:extLst>
          </p:cNvPr>
          <p:cNvSpPr/>
          <p:nvPr userDrawn="1"/>
        </p:nvSpPr>
        <p:spPr>
          <a:xfrm flipH="1">
            <a:off x="4982629" y="3246583"/>
            <a:ext cx="7209371" cy="2813816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72CAE8-6D7A-F23E-6877-ABC080108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7821" y="4730387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E4B00B9-3973-1E91-89B0-707864199F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7821" y="3474437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1490B-2E65-A106-CD72-77502C1F7A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274" y="43998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8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nsert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1DAA1895-BC9B-D608-8F60-D1D9BE14EC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9393" y="4071490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619D4A7-D553-B936-5374-0B925CD8F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393" y="2815540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68E19A-77B9-49C1-6434-A646F69436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46752" y="0"/>
            <a:ext cx="5145248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AA28FA-83CC-2896-F9E3-B756D4A6D3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274" y="439990"/>
            <a:ext cx="3863605" cy="665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E7C34-4E0E-4B5C-FAC7-B78A450607B4}"/>
              </a:ext>
            </a:extLst>
          </p:cNvPr>
          <p:cNvSpPr txBox="1"/>
          <p:nvPr userDrawn="1"/>
        </p:nvSpPr>
        <p:spPr>
          <a:xfrm>
            <a:off x="756276" y="6441283"/>
            <a:ext cx="4299536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tx1">
                    <a:alpha val="45289"/>
                  </a:schemeClr>
                </a:solidFill>
                <a:effectLst/>
              </a:rPr>
              <a:t>Photo / Image Credit</a:t>
            </a:r>
          </a:p>
        </p:txBody>
      </p:sp>
    </p:spTree>
    <p:extLst>
      <p:ext uri="{BB962C8B-B14F-4D97-AF65-F5344CB8AC3E}">
        <p14:creationId xmlns:p14="http://schemas.microsoft.com/office/powerpoint/2010/main" val="337624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7AC75E7-7BFD-4A75-83A1-67A33697740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02A84B4-4231-D57B-0394-9A45075BF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9829" y="1440738"/>
            <a:ext cx="5285872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73DCF93-8510-20FB-3AC3-FB0D2432C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299" y="1430267"/>
            <a:ext cx="5306484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572729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0E7FF6A1-3EC4-A83C-7F4A-8B3112D4F6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28" y="-2356623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600039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554E28-3E97-3A4B-70F7-3222381A2D7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9FE4844-2EAA-D15C-61E1-DAB24CB71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30267"/>
            <a:ext cx="5285872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6C333C1-CAD2-04B8-1D50-AEA24EC66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299" y="1430267"/>
            <a:ext cx="5306484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572729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B267A24-154F-8BC4-84AF-415D58A3B0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3744682" y="-3744677"/>
            <a:ext cx="1209529" cy="869889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68349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B6C6E8-42C3-4A1F-BB59-EF4B7F76FB04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9CADBED-3E11-D19F-95D9-44B761356F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30267"/>
            <a:ext cx="5285872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D825E5-1CA6-41E1-E519-C8FCDEE26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299" y="1430267"/>
            <a:ext cx="5306484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572729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A15FB00-4DEA-94CE-63D5-B2ADC3090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5179749" y="-5179745"/>
            <a:ext cx="1209529" cy="11569029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28184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48744-CE6B-2345-982F-B708871730D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1DEBF9-3758-DA93-AA3D-C23FBD14DC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035" y="1445603"/>
            <a:ext cx="10972799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FDADE84-5E89-D59F-E607-B7509F2C80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30" y="-2356627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303484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E770E-246E-0206-1601-8F53F7A4D0E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EDB83C1-C315-3C43-5411-4464A5818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035" y="1445603"/>
            <a:ext cx="10972799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8A95FCE-6986-D09C-3BD5-EF9CDE5617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3744682" y="-3744677"/>
            <a:ext cx="1209529" cy="869889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59203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B491D7-A7E8-A790-CACC-720C7E26E8B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152276-827A-02BC-0DC5-4CC3B06DE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035" y="1445603"/>
            <a:ext cx="10972799" cy="487702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F1FE3094-1F3B-A3FE-3DDC-10E7A4AE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5179749" y="-5179745"/>
            <a:ext cx="1209529" cy="11569029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marL="292601" marR="0" indent="-292601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517719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AF4BA-2B40-86B2-5ADE-9DA106E78E0F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72B71F8-736C-2EAC-160B-8A97FAB120C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28" y="-2356623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569539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8C1BDB-E839-FA07-66EB-45D378D6371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A58DF160-F1C7-3B40-DD96-75619D4BAD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3744682" y="-3744677"/>
            <a:ext cx="1209529" cy="869889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marL="292601" marR="0" indent="-292601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550348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C5CC2-C1FF-21BD-310A-D826E85383F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EA834269-002B-0A2C-FE20-8E91A6DEB6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5179752" y="-5179746"/>
            <a:ext cx="1209529" cy="1156903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979474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340F5-B924-BD4B-06F9-27A24891BF9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E2B7A63-17EC-7451-96C1-F558427778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36523" y="1530457"/>
            <a:ext cx="3645876" cy="4240607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7572870-5A6A-D096-798A-DCE28A4F21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9600" y="1432985"/>
            <a:ext cx="6866373" cy="48979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A52AB44A-ADEF-58EE-5CEF-01FD5CEC02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5902500"/>
            <a:ext cx="3379856" cy="233693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61018702-9D58-BC5D-3602-1CCE25AC79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5179752" y="-5179746"/>
            <a:ext cx="1209529" cy="1156903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 + Image</a:t>
            </a:r>
          </a:p>
        </p:txBody>
      </p:sp>
    </p:spTree>
    <p:extLst>
      <p:ext uri="{BB962C8B-B14F-4D97-AF65-F5344CB8AC3E}">
        <p14:creationId xmlns:p14="http://schemas.microsoft.com/office/powerpoint/2010/main" val="1269691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–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8100CA-4516-4623-AF1E-58E3E9F1A04F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75A950D-7FD4-6191-2A15-8300C9BE8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506" y="1397000"/>
            <a:ext cx="8540751" cy="100790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94945111-E324-0A0B-4A4F-90E085F458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690" y="2707217"/>
            <a:ext cx="3270249" cy="3462471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A2C6E35C-CBC9-87A5-C98A-CFA0D08BB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95857" y="2707217"/>
            <a:ext cx="3270249" cy="3462471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130942A5-3505-1222-55B2-500533F6F4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09024" y="2707217"/>
            <a:ext cx="3270249" cy="3462471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905BE9E-592C-8125-74A6-D15BC9C64C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5179752" y="-5179746"/>
            <a:ext cx="1209529" cy="1156903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678491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4FD46F-2428-2F85-0A98-19BC8E00CE61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06A2CF-2063-A93D-1E9C-82E53E6121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" y="4152009"/>
            <a:ext cx="3535680" cy="19801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C11FDD-73DB-0CB7-0D7D-B1E0E52E2E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28160" y="4152009"/>
            <a:ext cx="3535680" cy="19801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DCB6057-50CF-29BC-8890-0625EDA1387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0" y="4152009"/>
            <a:ext cx="3535680" cy="19801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481AE08-8BDD-9767-AAE8-2796C127DF8A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353909" y="1452436"/>
            <a:ext cx="5228491" cy="2470203"/>
          </a:xfrm>
          <a:prstGeom prst="rect">
            <a:avLst/>
          </a:prstGeom>
          <a:solidFill>
            <a:schemeClr val="bg2"/>
          </a:solidFill>
        </p:spPr>
        <p:txBody>
          <a:bodyPr vert="horz"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7D43B7-7ED7-14CD-E9CD-ED09E2F669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1" y="1372276"/>
            <a:ext cx="5466303" cy="249892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ED8F064-5F20-7A15-0FA9-CDFAB45787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3251" y="6203416"/>
            <a:ext cx="3550068" cy="21010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  <a:lvl2pPr marL="414518" indent="0">
              <a:buNone/>
              <a:defRPr sz="800"/>
            </a:lvl2pPr>
            <a:lvl3pPr marL="768077" indent="0">
              <a:buNone/>
              <a:defRPr sz="800"/>
            </a:lvl3pPr>
            <a:lvl4pPr marL="1121636" indent="0">
              <a:buNone/>
              <a:defRPr sz="800"/>
            </a:lvl4pPr>
            <a:lvl5pPr marL="1426428" indent="0">
              <a:buNone/>
              <a:defRPr sz="800"/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3B113F0-5058-EDE3-8BA5-62F0383233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41284" y="6197067"/>
            <a:ext cx="3523225" cy="22718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D523EA33-83E0-61A5-165D-479F3FA06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51800" y="6209767"/>
            <a:ext cx="3530600" cy="22718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EEDDDDA-8210-942E-E2A3-848A0D8AB4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356629" y="-2356624"/>
            <a:ext cx="1209529" cy="5922784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620742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CA958A-1F5F-2496-8D28-E74C6A204A97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4226130-4780-805B-7641-AA662B760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99534"/>
            <a:ext cx="5285872" cy="5906105"/>
          </a:xfrm>
        </p:spPr>
        <p:txBody>
          <a:bodyPr>
            <a:normAutofit/>
          </a:bodyPr>
          <a:lstStyle>
            <a:lvl1pPr indent="-304792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454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224578-8E67-64B3-6F6D-A427F8213408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100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0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Du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60028" y="3956079"/>
            <a:ext cx="6118085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809" y="1669356"/>
            <a:ext cx="6133080" cy="1811779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453091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Mes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57172" y="3948645"/>
            <a:ext cx="6135997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530" y="1669356"/>
            <a:ext cx="6151036" cy="1811779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792613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Rock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57172" y="3948645"/>
            <a:ext cx="6135997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530" y="1669356"/>
            <a:ext cx="6151036" cy="1811779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3134738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Golden Su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60028" y="3956079"/>
            <a:ext cx="6118085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809" y="1669356"/>
            <a:ext cx="6133080" cy="1811779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9288-7B94-D2DA-9757-8C3C74DCB744}"/>
              </a:ext>
            </a:extLst>
          </p:cNvPr>
          <p:cNvSpPr txBox="1"/>
          <p:nvPr userDrawn="1"/>
        </p:nvSpPr>
        <p:spPr>
          <a:xfrm>
            <a:off x="7445555" y="1510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832014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Mesa Blue - Large Photo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133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B0E1FD29-8D0F-8869-D71A-93FEE828F5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0" y="3420272"/>
            <a:ext cx="6096000" cy="2198915"/>
          </a:xfrm>
          <a:prstGeom prst="round1Rect">
            <a:avLst/>
          </a:prstGeom>
          <a:solidFill>
            <a:schemeClr val="tx2">
              <a:alpha val="68000"/>
            </a:schemeClr>
          </a:solidFill>
        </p:spPr>
        <p:txBody>
          <a:bodyPr wrap="square" lIns="0" rIns="0" anchor="ctr">
            <a:normAutofit/>
          </a:bodyPr>
          <a:lstStyle>
            <a:lvl1pPr marL="0" algn="ctr">
              <a:buNone/>
              <a:defRPr sz="373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 Messaging </a:t>
            </a:r>
            <a:br>
              <a:rPr lang="en-US"/>
            </a:br>
            <a:r>
              <a:rPr lang="en-US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1460517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Rocky Blu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133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2C83F3B-445C-362C-4172-B33E9F6FD0A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0" y="3420272"/>
            <a:ext cx="6096000" cy="2198915"/>
          </a:xfrm>
          <a:prstGeom prst="round1Rect">
            <a:avLst/>
          </a:prstGeom>
          <a:solidFill>
            <a:schemeClr val="accent1">
              <a:alpha val="68000"/>
            </a:schemeClr>
          </a:solidFill>
        </p:spPr>
        <p:txBody>
          <a:bodyPr wrap="square" lIns="0" rIns="0" anchor="ctr">
            <a:normAutofit/>
          </a:bodyPr>
          <a:lstStyle>
            <a:lvl1pPr marL="0" algn="ctr">
              <a:buNone/>
              <a:defRPr sz="373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 Messaging </a:t>
            </a:r>
            <a:br>
              <a:rPr lang="en-US"/>
            </a:br>
            <a:r>
              <a:rPr lang="en-US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143886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Dun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133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C62E59A-76FF-421D-2BC3-2376D2A5B8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0" y="3420272"/>
            <a:ext cx="6096000" cy="2198915"/>
          </a:xfrm>
          <a:prstGeom prst="round1Rect">
            <a:avLst/>
          </a:prstGeom>
          <a:solidFill>
            <a:schemeClr val="bg2">
              <a:alpha val="83167"/>
            </a:schemeClr>
          </a:solidFill>
        </p:spPr>
        <p:txBody>
          <a:bodyPr wrap="square" lIns="0" rIns="0" anchor="ctr">
            <a:normAutofit/>
          </a:bodyPr>
          <a:lstStyle>
            <a:lvl1pPr marL="0" algn="ctr">
              <a:buNone/>
              <a:defRPr sz="3733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Key Messaging </a:t>
            </a:r>
            <a:br>
              <a:rPr lang="en-US"/>
            </a:br>
            <a:r>
              <a:rPr lang="en-US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263099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-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6"/>
          <p:cNvSpPr>
            <a:spLocks noGrp="1"/>
          </p:cNvSpPr>
          <p:nvPr>
            <p:ph type="chart" sz="quarter" idx="11" hasCustomPrompt="1"/>
          </p:nvPr>
        </p:nvSpPr>
        <p:spPr>
          <a:xfrm>
            <a:off x="624418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0" name="Chart Placeholder 6"/>
          <p:cNvSpPr>
            <a:spLocks noGrp="1"/>
          </p:cNvSpPr>
          <p:nvPr>
            <p:ph type="chart" sz="quarter" idx="12" hasCustomPrompt="1"/>
          </p:nvPr>
        </p:nvSpPr>
        <p:spPr>
          <a:xfrm>
            <a:off x="9284800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1" name="Chart Placeholder 6"/>
          <p:cNvSpPr>
            <a:spLocks noGrp="1"/>
          </p:cNvSpPr>
          <p:nvPr>
            <p:ph type="chart" sz="quarter" idx="13" hasCustomPrompt="1"/>
          </p:nvPr>
        </p:nvSpPr>
        <p:spPr>
          <a:xfrm>
            <a:off x="6354569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2" name="Chart Placeholder 6"/>
          <p:cNvSpPr>
            <a:spLocks noGrp="1"/>
          </p:cNvSpPr>
          <p:nvPr>
            <p:ph type="chart" sz="quarter" idx="14" hasCustomPrompt="1"/>
          </p:nvPr>
        </p:nvSpPr>
        <p:spPr>
          <a:xfrm>
            <a:off x="3490746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B32518-80C2-490A-8EDF-A9BC4D5E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7717" y="550843"/>
            <a:ext cx="6358467" cy="1715099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D4793-29E8-C255-201E-B14E242DE00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02902" y="4870451"/>
            <a:ext cx="2537884" cy="910167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7D937D-C1DF-8E97-86B9-5B2B366CDC2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97431" y="4870452"/>
            <a:ext cx="2531533" cy="91863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6AD15F-B268-1255-D9D8-0B454AC3A1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371540" y="4870451"/>
            <a:ext cx="2525184" cy="95038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9B973-B61B-DBEF-0780-D24C5D66F3C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83701" y="4870451"/>
            <a:ext cx="2513065" cy="971549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45109-91C5-45A6-3F76-A1835755197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tx1"/>
                </a:solidFill>
              </a:rPr>
              <a:t>    </a:t>
            </a:r>
            <a:r>
              <a:rPr lang="en-US" sz="100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tx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EF5BB11-B058-5863-9D17-F382746485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>
            <a:off x="1311658" y="-1311656"/>
            <a:ext cx="2265940" cy="488925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Data Slide:</a:t>
            </a:r>
          </a:p>
          <a:p>
            <a:pPr lvl="0"/>
            <a:r>
              <a:rPr lang="en-US"/>
              <a:t>Keep Title Concise</a:t>
            </a:r>
          </a:p>
        </p:txBody>
      </p:sp>
    </p:spTree>
    <p:extLst>
      <p:ext uri="{BB962C8B-B14F-4D97-AF65-F5344CB8AC3E}">
        <p14:creationId xmlns:p14="http://schemas.microsoft.com/office/powerpoint/2010/main" val="24967338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                                                                             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3414950"/>
            <a:ext cx="12192000" cy="2644161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/>
          <a:lstStyle>
            <a:lvl1pPr marL="0" indent="0" algn="ctr">
              <a:buNone/>
              <a:defRPr sz="133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654244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986149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5234712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7567584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9782135" y="2616060"/>
            <a:ext cx="1722576" cy="172257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508750"/>
            <a:ext cx="2193500" cy="15180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9782136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9782137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7540880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7540881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5241522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524152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926493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333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92649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867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4519809"/>
            <a:ext cx="1782233" cy="435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67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419" y="5057515"/>
            <a:ext cx="1782232" cy="7608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333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0390E-E1C4-AA93-CA32-9ED58E9ED9C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tx1"/>
                </a:solidFill>
              </a:rPr>
              <a:t>    </a:t>
            </a:r>
            <a:r>
              <a:rPr lang="en-US" sz="100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tx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2126045-E94D-0D57-0550-E5ECA86A08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1311661" y="-1325548"/>
            <a:ext cx="2265940" cy="488925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Messaging + Blue </a:t>
            </a:r>
            <a:br>
              <a:rPr lang="en-US"/>
            </a:br>
            <a:r>
              <a:rPr lang="en-US"/>
              <a:t>Infographic Content</a:t>
            </a:r>
          </a:p>
        </p:txBody>
      </p:sp>
    </p:spTree>
    <p:extLst>
      <p:ext uri="{BB962C8B-B14F-4D97-AF65-F5344CB8AC3E}">
        <p14:creationId xmlns:p14="http://schemas.microsoft.com/office/powerpoint/2010/main" val="3894910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9" hasCustomPrompt="1"/>
          </p:nvPr>
        </p:nvSpPr>
        <p:spPr>
          <a:xfrm>
            <a:off x="9676" y="1178"/>
            <a:ext cx="12192000" cy="3577167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CE4DC-F9C6-A43C-28C6-13011655AA6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08859" y="3927847"/>
            <a:ext cx="5384221" cy="23739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18EFF9-E0AC-CC7E-2764-B29737D0FE5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84966" y="3927847"/>
            <a:ext cx="5384221" cy="23739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8DDF63-B0C1-97B0-7607-7753AB3540E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8860" y="6519511"/>
            <a:ext cx="3082033" cy="201360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2765-270E-31B1-47C6-BD7C04EAF619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tx1"/>
                </a:solidFill>
              </a:rPr>
              <a:t>    </a:t>
            </a:r>
            <a:r>
              <a:rPr lang="en-US" sz="100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tx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D3DA80E-A967-60F3-1627-DA99A049BB0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" y="2777066"/>
            <a:ext cx="5993079" cy="801279"/>
          </a:xfrm>
          <a:prstGeom prst="round1Rect">
            <a:avLst/>
          </a:prstGeom>
          <a:solidFill>
            <a:schemeClr val="tx2"/>
          </a:solidFill>
        </p:spPr>
        <p:txBody>
          <a:bodyPr wrap="square" lIns="457200" rIns="0" anchor="ctr">
            <a:normAutofit/>
          </a:bodyPr>
          <a:lstStyle>
            <a:lvl1pPr>
              <a:buNone/>
              <a:defRPr sz="3333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62372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3551"/>
            <a:ext cx="12192000" cy="258540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0" y="1"/>
            <a:ext cx="12192000" cy="4273551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CA1365-BAC8-78C8-B53B-C8BF3C8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83" y="4723851"/>
            <a:ext cx="4441372" cy="1480456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B26AFA-83CC-9BA7-8D5C-E4EC01AC987C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474050" y="4695115"/>
            <a:ext cx="6215533" cy="173126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1756F3-9E83-815E-7C56-7F10477D17E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37117" y="6506696"/>
            <a:ext cx="2940969" cy="247651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  <a:lvl2pPr marL="451093" indent="0">
              <a:buNone/>
              <a:defRPr sz="800" i="1"/>
            </a:lvl2pPr>
            <a:lvl3pPr marL="792460" indent="0">
              <a:buNone/>
              <a:defRPr sz="800" i="1"/>
            </a:lvl3pPr>
            <a:lvl4pPr marL="1158211" indent="0">
              <a:buNone/>
              <a:defRPr sz="800" i="1"/>
            </a:lvl4pPr>
            <a:lvl5pPr marL="1450812" indent="0">
              <a:buNone/>
              <a:defRPr sz="800" i="1"/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16797-31E5-332D-8BC8-939C4AAC29E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39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2595"/>
            <a:ext cx="12192000" cy="258540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12192000" cy="4272595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D88D45-FB85-42C7-BC0A-8E60CF8D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65" y="4723851"/>
            <a:ext cx="4437888" cy="147523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D67B5D-5329-2E44-614F-CA5501D824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636047" y="777141"/>
            <a:ext cx="6217920" cy="3048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22128B2-D8A5-692C-2374-4D147DC3907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5473001" y="4695464"/>
            <a:ext cx="6108192" cy="173126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9BA69-7500-759F-7486-0B527B74901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35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2595"/>
            <a:ext cx="12192000" cy="258540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3272D3-1563-408A-9F95-5911769F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68" y="4723849"/>
            <a:ext cx="4437888" cy="147523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893015-4F05-E217-3E5E-6EA469CBCA7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38028" y="778641"/>
            <a:ext cx="6217920" cy="3048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AC2ECD-612B-5E68-1983-6FB1054132F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473001" y="4695816"/>
            <a:ext cx="5632704" cy="173126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1D6D1-5CD2-9810-89E1-726B066A4BE4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11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226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5536819"/>
            <a:ext cx="12192000" cy="1321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12192000" cy="553681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5F658F-F273-41B3-ACB3-9D303C6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5715404"/>
            <a:ext cx="4411133" cy="99256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E8785B-1579-4206-A28B-023A6726B47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2" y="5731959"/>
            <a:ext cx="6189133" cy="59787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21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398B08-C541-AC03-D7BA-89980829E4B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33277" y="776816"/>
            <a:ext cx="6217920" cy="3048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693A5-106B-EBE2-0277-5304EB612F9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56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5536819"/>
            <a:ext cx="12192000" cy="1321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A29C17-CD58-45DF-9097-FE42DFA0C9B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33279" y="776817"/>
            <a:ext cx="6217920" cy="3048000"/>
          </a:xfrm>
        </p:spPr>
        <p:txBody>
          <a:bodyPr lIns="0" tIns="0" rIns="0" bIns="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4210-7459-5AC3-8DF6-701132C8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5715404"/>
            <a:ext cx="4411133" cy="99256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752E0B-A3B6-21AE-9429-49BAAB13337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2" y="5731959"/>
            <a:ext cx="6189133" cy="59787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21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9A733-2D0F-C5A4-0491-9681B311B6E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</a:rPr>
              <a:t>National Laboratory of the Rockies</a:t>
            </a:r>
            <a:r>
              <a:rPr lang="en-US" sz="1000" baseline="0">
                <a:solidFill>
                  <a:schemeClr val="bg1"/>
                </a:solidFill>
              </a:rPr>
              <a:t>    </a:t>
            </a:r>
            <a:r>
              <a:rPr lang="en-US" sz="100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00" smtClean="0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2564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302269" y="0"/>
            <a:ext cx="7889731" cy="68580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E9686F-E66D-461E-AC4C-5FD554E2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3" y="677856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54499A-F954-2D90-958E-C82BCA5D1A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8681" y="6515458"/>
            <a:ext cx="3082432" cy="234316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FE6108-195D-3AED-B0F0-BDF908E498B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95649" y="3921539"/>
            <a:ext cx="3413760" cy="2598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7187C-EAD8-1E61-9962-5AE3823912D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5699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999130" y="0"/>
            <a:ext cx="10192871" cy="68580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381708-CFBE-4024-B01B-9BC2A5E379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8153" y="6516506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F0677-99AF-14F1-F6C6-B4B4C767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3" y="636531"/>
            <a:ext cx="1464063" cy="24384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58745-A1F2-18C6-DF3B-A0C108BEEC6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5927248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 gold tab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99744" y="0"/>
            <a:ext cx="11192257" cy="68580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894BAA-0327-4892-AB75-34DCB16A2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3547" y="6515637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0C0C0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8986-FEE2-BB0A-38A4-BDAEF1C64A2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525319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4302269" y="0"/>
            <a:ext cx="7889731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B39BF4-7072-4553-86C8-12D7D9B7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EFFE661-D7A3-4C37-B357-43318784250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91927" y="747843"/>
            <a:ext cx="6742176" cy="291645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F077-54D2-9477-158C-4436C07F9E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96309" y="3919693"/>
            <a:ext cx="3413760" cy="259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C6BB4-4C1D-E09F-4285-4BB1E317D17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63019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1999486" y="0"/>
            <a:ext cx="1019251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797EB37-03F4-449B-B968-0A9F893D5E0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856082" y="661975"/>
            <a:ext cx="6133844" cy="3925824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9E2B33-0A98-2370-ADEA-B2EEAB6E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35" y="636531"/>
            <a:ext cx="145810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6DAAE-94D5-B061-538D-10611DF8C0C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30456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999744" y="0"/>
            <a:ext cx="11192257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B4065-B034-894F-B2AD-10DA51A4FF51}"/>
              </a:ext>
            </a:extLst>
          </p:cNvPr>
          <p:cNvSpPr/>
          <p:nvPr userDrawn="1"/>
        </p:nvSpPr>
        <p:spPr>
          <a:xfrm>
            <a:off x="0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BD73797-8DC2-4888-96F8-44B5CE03FB5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829604" y="667457"/>
            <a:ext cx="6189133" cy="146261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AC423-CB9B-EEBB-7601-9A8B3252AE95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71066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4F110FF-8AA0-4EAA-B648-1E56466C209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91930" y="747843"/>
            <a:ext cx="6743577" cy="290975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1DA590-E34F-E95F-EA8F-25D429152E5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96309" y="3919693"/>
            <a:ext cx="3413760" cy="259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5286F-2A29-ACB1-B45B-5FA5D51D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97A9C-A105-75A0-3CB4-2B747B7ED359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9982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97782B-AD07-41D8-8B1A-C80B7909141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849383" y="668676"/>
            <a:ext cx="6140543" cy="3926769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9B94A-10DF-F259-6211-361F3905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40" y="636540"/>
            <a:ext cx="1458096" cy="2931851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07A43-F47C-2F30-47BB-AF2A7123E668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3574615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46C4D-EA55-834D-A1ED-486FAB3B53C7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0E8073-CA3E-42B8-B107-F7F3B0E99B6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829605" y="667457"/>
            <a:ext cx="6684697" cy="4477299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BE631-E7F3-1A30-303E-56D522E750C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261106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302269" y="0"/>
            <a:ext cx="7889731" cy="3429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2B3A08-FCC1-87D5-1806-980B38E9CB4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4307232" y="3429512"/>
            <a:ext cx="7884769" cy="3428488"/>
          </a:xfrm>
          <a:solidFill>
            <a:schemeClr val="bg2"/>
          </a:solidFill>
        </p:spPr>
        <p:txBody>
          <a:bodyPr lIns="365760" tIns="365760" rIns="365760" bIns="36576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1E2549-C9BE-44EC-AF2A-C2344561DBF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96311" y="3910859"/>
            <a:ext cx="3413760" cy="25907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736489C-C527-2182-AA78-6C8EC3B4E35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69596" y="3140948"/>
            <a:ext cx="3499760" cy="215203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BC63-8716-7F87-EDEE-D627E739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7997-FED8-3B31-3271-4D017476C118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29907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B232DB-1D11-DE05-2972-F705A485DA8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1996017" y="3432048"/>
            <a:ext cx="10195983" cy="342595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999488" y="0"/>
            <a:ext cx="10192513" cy="3429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A21AF-1C86-484E-8C81-8214908BC04B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C5C7B5-DFEC-E352-19F8-7DDB1DEC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39" y="640016"/>
            <a:ext cx="1458096" cy="2779691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6FE1DD-C9BA-0FD5-CAD0-1C4DA5AF9A7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385833" y="3087310"/>
            <a:ext cx="3206585" cy="215249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9777C-D043-D70D-23A4-FC873B15628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672322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with 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99744" y="0"/>
            <a:ext cx="11192257" cy="3429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2D25-9C7A-B2BA-D5DE-F13F7B8A3FF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91437" y="3429839"/>
            <a:ext cx="11200563" cy="3428163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804E5-74BF-BD47-85E5-EA49688872F8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BBF26-D9F9-B112-3BA8-59D2A642D54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0766" y="3097556"/>
            <a:ext cx="2581399" cy="206829"/>
          </a:xfrm>
        </p:spPr>
        <p:txBody>
          <a:bodyPr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82CB7-1201-FE39-7E9A-084141E0CE2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703094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4C8B31-BC01-2C22-3ABA-BE59023BC63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303776" y="3422651"/>
            <a:ext cx="7888224" cy="3435349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7A34F1A-F0DB-40F2-B360-EACF6348CA2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91931" y="747844"/>
            <a:ext cx="6515815" cy="2166179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254CF-076C-8B1F-5ECD-2B998D963E3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96312" y="3918023"/>
            <a:ext cx="3413760" cy="25847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32B55-1426-0C63-1A57-2709D8C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2" y="677857"/>
            <a:ext cx="3413760" cy="24384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333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2CFE1-1EC0-DA96-4144-8C0FB4069729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4236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A860-D395-9584-1BBA-D20571D1D2F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996272" y="3422651"/>
            <a:ext cx="10195728" cy="3435349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AD8C3-A811-7F49-ABE6-460F673A0377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482931" y="685320"/>
            <a:ext cx="6189133" cy="1462616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4C92E-68E4-262B-F413-5E1B122D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39" y="640015"/>
            <a:ext cx="1466335" cy="2809429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662C0-2AAB-725F-9E17-B54CCB5BA47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29417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B6990-0ED3-8B6A-CDDE-94E3134E15A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91437" y="3429001"/>
            <a:ext cx="11200563" cy="3429000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467426" y="687553"/>
            <a:ext cx="6001849" cy="2400640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7FD9B-4A46-4188-9F66-F09E1C0537B3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62EB90-119F-7B7C-5472-16CE10A89780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719201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Mult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855841"/>
            <a:ext cx="5497435" cy="2955056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6433744" y="243840"/>
            <a:ext cx="5162664" cy="2447187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6433744" y="3306596"/>
            <a:ext cx="5162664" cy="2602681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0C75BF-C07C-47CD-BC98-DC5F9CA1E63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609600" y="5370198"/>
            <a:ext cx="5496984" cy="967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D7D123A-BFAA-4E7B-B179-5688121C54F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09600" y="4910453"/>
            <a:ext cx="5496984" cy="2878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F822E2-A016-4350-A90C-517C3974F4D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34667" y="2781994"/>
            <a:ext cx="5162551" cy="2871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44F37C-48C1-4A08-9DB4-76F621838FA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434667" y="5996518"/>
            <a:ext cx="5162551" cy="34078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36E55-7DE3-D2CF-8B1B-394D8F969FE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892BF7-9A54-43B8-DFF2-0830823327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2288417" y="-2288412"/>
            <a:ext cx="1519169" cy="6096000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Photo Slide</a:t>
            </a:r>
          </a:p>
        </p:txBody>
      </p:sp>
    </p:spTree>
    <p:extLst>
      <p:ext uri="{BB962C8B-B14F-4D97-AF65-F5344CB8AC3E}">
        <p14:creationId xmlns:p14="http://schemas.microsoft.com/office/powerpoint/2010/main" val="22727757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688" y="212375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07627" y="212375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9565" y="212375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1504" y="2123752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3443" y="212375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5381" y="212374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67320" y="212374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99259" y="212374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31197" y="212374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63136" y="212374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5301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301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27239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7239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59178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9178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1117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1117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3055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3055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4994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4994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86933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86933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18871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18871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50810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50810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2749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2749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75688" y="427539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707627" y="427539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9565" y="427539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71504" y="4275392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103443" y="427539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35381" y="427538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367320" y="427538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9259" y="427538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631197" y="427538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0763136" y="427538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5301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95301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27239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627239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759178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59178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891117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91117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023055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023055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54994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4994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86933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286933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18871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18871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0810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550810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682749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682749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2695A-47D5-A736-DD62-607969B0DDB1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D44D3E5D-AAD0-6351-44E7-B40415C862E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3836606" y="-3836604"/>
            <a:ext cx="1519172" cy="919238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712318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688" y="167008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07627" y="167008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9565" y="167008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1504" y="167008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3443" y="167008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5381" y="167008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67320" y="1670080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99259" y="167007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31197" y="167007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63136" y="167007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5301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301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27239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7239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59178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9178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1117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1117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3055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3055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4994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4994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86933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86933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18871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18871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50810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50810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2749" y="2638293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2749" y="305593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75688" y="382172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707627" y="382172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9565" y="382172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71504" y="382172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103443" y="382172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35381" y="382172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367320" y="3821720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9259" y="382171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631197" y="382171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0763136" y="382171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5301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95301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27239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627239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759178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59178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891117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91117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023055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023055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54994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4994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86933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286933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18871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18871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0810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550810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682749" y="4789933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682749" y="5207573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EABE-4B1E-F662-25A4-93A7AF42E8EC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57DCC02C-91DE-C533-65F5-0C9431D9722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5179753" y="-5179749"/>
            <a:ext cx="1209529" cy="11569033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999746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9A0BB-5010-CC3A-A2F6-6C98DB096358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59588A-DE2B-3E53-9C72-A550639B7135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78E70A-877A-E9FE-6156-2C023D4A7F35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6949D5-F5D2-858E-1D64-781CE3AB9942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63ABBE-7CD4-340F-088E-04A3FD53CFC4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C48CC5-C569-7F6F-6D19-33DA6D61A0D1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5B85FC-6AB5-9B59-C2E9-03D042EC1DFD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34E5F-25EA-5156-F1B9-74A219E5715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C38F0FBC-70AE-79BE-7E4F-0121AEFC008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6358709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10C422-9C35-54AC-12CF-1DA3445659A2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19C5A3-3423-017A-0EDC-C10CB0EC1FE3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E0A6E-3314-47CC-03CD-71D5BCCA0340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F9D20E-F8BC-1B72-E65F-C42D2AD05DBE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D90CD1-86DE-CC65-0276-BE3085358EB6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7E6927-1F72-2CEE-7D40-621955D6BD60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F63B35-C8B1-1CC3-6FC1-DB398FC5EC96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1D4BA-0286-6FAF-E650-59ADF3A4314A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22E1BCC8-0944-4D66-33B5-A830214F367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3169291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48DE2-15D7-4EB5-9DDC-79E9C1C8621E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426863-C2D8-B163-B513-836F0A8D07C2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C07864-52A8-BF97-875D-253BFBC15068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B9F020-5CD4-DCB8-EAD4-670C7A5D2111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E5A6DC-6D0B-8012-5AD3-4F91BFD26B2A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B30644-D506-2E53-B8D9-3EDE4A2184C4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71F6D6-A269-A4F6-5DF7-E403AF088741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E0D2-A507-0635-F66D-42C430324CF2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934616D-A97D-9E7E-41B3-DFD10C8AB45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6058994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7AA6AC-A171-0A6D-DA6E-5E928A49DB6B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CE960-A531-6ABD-8471-5FA8A51973E0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B65AD5-5805-6332-F1B1-EFBAB598DFA4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0C4B3-64C5-4C80-FC3E-CA07C14F0DDA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D929D3-D929-EBC8-5BD5-3EF200BC9EEC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03E6B1-51E6-AD06-CBBA-4D7A181776A6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F454D7-4860-0C1C-461D-E24F83DC5463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04F32-8AC9-0AF6-715F-D858E7B2CCD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12BFB3C-801B-39AA-5ACA-960B685DE84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6112906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5EF62C-14DC-8569-F857-F9005E8A926A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2DD467-3FF1-2050-0E47-CAD6E3BAD104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9988F8-3436-11D7-3743-92076BD57876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F72BDF-7CB9-9313-7B75-68EBEAD3F60C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36163-D2BB-4BA8-691E-9BDA1E5E5B67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0FD610-4974-4ECD-592A-6F48E8EB6F4F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7010F4-ECAE-1CC0-5BC2-34573DAED6BC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5AAF-7C37-6119-090F-F4B0F06AD756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451CA4DB-A44F-E825-BE19-82BD2DF2ACB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5446236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0C85DB-94A4-A073-1A5A-F3309F5CCCCA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25383C-A1CE-009D-28E1-33634664988A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71A96-100F-BA13-7CED-7A6175562913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EFC827-714A-5077-2AF7-0D466F6625C7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2D6A54-EE78-AB45-0F22-41C054BF9753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7F822-2BDA-965F-B05D-932E3A4DA84B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9F6BDA-47D4-F260-8B1E-9E219C2739DF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6E1DA-1ADD-6D5F-EF91-EAECACBF89CD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D9FC1C8-75A7-A4B6-D4DF-50F0B8A1F9C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70202495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921AB4-F0E3-41B5-6F31-D54FC8D7B080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ECD41-D979-A6E2-73B2-12BE2C54F7B7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D6AAB6-BC07-5F46-A4F6-0EFF50D143B0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054AA5-BB34-AD00-86F2-2AE9ABF1BE18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1DD908-3164-599B-D370-8C2D7BFAE1C8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007F02-8405-9BA5-60ED-2765FEAF4796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0AA075-0D3C-FCC0-AC84-EE19DFFE3A7E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27493-D469-0A4A-C4BB-3AEA60759DBE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E0F0C39-C3EA-5407-7B77-E6562F4C1E0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181296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2A499A-B4C7-3457-2E48-5211DE4B1CDB}"/>
              </a:ext>
            </a:extLst>
          </p:cNvPr>
          <p:cNvSpPr/>
          <p:nvPr userDrawn="1"/>
        </p:nvSpPr>
        <p:spPr>
          <a:xfrm>
            <a:off x="609601" y="184959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517360-C038-9603-B0A8-471A390AF1CD}"/>
              </a:ext>
            </a:extLst>
          </p:cNvPr>
          <p:cNvSpPr/>
          <p:nvPr userDrawn="1"/>
        </p:nvSpPr>
        <p:spPr>
          <a:xfrm>
            <a:off x="609601" y="248177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4FB253-2840-4E46-205B-8A177D4DA0C0}"/>
              </a:ext>
            </a:extLst>
          </p:cNvPr>
          <p:cNvSpPr/>
          <p:nvPr userDrawn="1"/>
        </p:nvSpPr>
        <p:spPr>
          <a:xfrm>
            <a:off x="609601" y="3129004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38A649-14DE-D169-8665-82B386E7B637}"/>
              </a:ext>
            </a:extLst>
          </p:cNvPr>
          <p:cNvSpPr/>
          <p:nvPr userDrawn="1"/>
        </p:nvSpPr>
        <p:spPr>
          <a:xfrm>
            <a:off x="609601" y="3776233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5FC04-DE87-E00E-C8CF-B24AB5F07302}"/>
              </a:ext>
            </a:extLst>
          </p:cNvPr>
          <p:cNvSpPr/>
          <p:nvPr userDrawn="1"/>
        </p:nvSpPr>
        <p:spPr>
          <a:xfrm>
            <a:off x="609601" y="4430988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94A651-51DD-4D7C-9993-65F5A9278864}"/>
              </a:ext>
            </a:extLst>
          </p:cNvPr>
          <p:cNvSpPr/>
          <p:nvPr userDrawn="1"/>
        </p:nvSpPr>
        <p:spPr>
          <a:xfrm>
            <a:off x="609601" y="5078217"/>
            <a:ext cx="575432" cy="52411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9BE7FE-124A-9B7A-D511-3C82AD80942F}"/>
              </a:ext>
            </a:extLst>
          </p:cNvPr>
          <p:cNvSpPr/>
          <p:nvPr userDrawn="1"/>
        </p:nvSpPr>
        <p:spPr>
          <a:xfrm>
            <a:off x="609601" y="5725446"/>
            <a:ext cx="575432" cy="52411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64683-6370-7CF7-374E-64AF47E59A74}"/>
              </a:ext>
            </a:extLst>
          </p:cNvPr>
          <p:cNvSpPr txBox="1"/>
          <p:nvPr userDrawn="1"/>
        </p:nvSpPr>
        <p:spPr>
          <a:xfrm>
            <a:off x="8948936" y="6454019"/>
            <a:ext cx="3039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National Laboratory of the Rockies</a:t>
            </a:r>
            <a:r>
              <a:rPr lang="en-US" sz="1000" baseline="0"/>
              <a:t>    </a:t>
            </a:r>
            <a:r>
              <a:rPr lang="en-US" sz="1000"/>
              <a:t>|    </a:t>
            </a:r>
            <a:fld id="{BFD71CF8-5198-8441-A7C0-DC22FD64CBE4}" type="slidenum">
              <a:rPr lang="en-US" sz="1000" smtClean="0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2C42C516-D4B8-EE80-7803-D2E83AA9EB5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1538510" y="-1529140"/>
            <a:ext cx="1519172" cy="4596191"/>
          </a:xfrm>
          <a:prstGeom prst="round1Rect">
            <a:avLst/>
          </a:prstGeom>
          <a:solidFill>
            <a:schemeClr val="tx2"/>
          </a:solidFill>
        </p:spPr>
        <p:txBody>
          <a:bodyPr vert="vert270" bIns="0" anchor="ctr" anchorCtr="0"/>
          <a:lstStyle>
            <a:lvl1pPr algn="ctr">
              <a:buNone/>
              <a:defRPr sz="3333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algn="ctr"/>
            <a:r>
              <a:rPr lang="en-US" sz="3333" b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8378678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4988864" y="2585416"/>
            <a:ext cx="6607545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4394" y="3430009"/>
            <a:ext cx="6142709" cy="280289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533"/>
              </a:spcBef>
              <a:buNone/>
              <a:defRPr sz="1333" baseline="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4849110" y="2789657"/>
            <a:ext cx="2822223" cy="4400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333333"/>
                </a:solidFill>
              </a:rPr>
              <a:t>  </a:t>
            </a:r>
            <a:r>
              <a:rPr lang="en-US" sz="2400" b="1" dirty="0" err="1">
                <a:solidFill>
                  <a:srgbClr val="333333"/>
                </a:solidFill>
              </a:rPr>
              <a:t>www.nlr.gov</a:t>
            </a:r>
            <a:endParaRPr lang="en-US" sz="2400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4075" y="589415"/>
            <a:ext cx="6142581" cy="1747620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defRPr sz="4667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682" y="5532379"/>
            <a:ext cx="3863605" cy="6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66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8" y="0"/>
            <a:ext cx="1218706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5502445" y="1724317"/>
            <a:ext cx="6689556" cy="4088148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7636" y="3231126"/>
            <a:ext cx="5995913" cy="1072525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BE153A6-06F8-56B1-51E9-FF18B86A7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7636" y="1975176"/>
            <a:ext cx="5995913" cy="1226921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None/>
              <a:defRPr sz="3733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Q&amp;A or 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5767636" y="4479749"/>
            <a:ext cx="5995913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90954" y="4859563"/>
            <a:ext cx="3157732" cy="54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31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7913"/>
            <a:ext cx="10972800" cy="43524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255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</p:sldLayoutIdLst>
  <p:hf hdr="0" dt="0"/>
  <p:txStyles>
    <p:titleStyle>
      <a:lvl1pPr marL="0" algn="l" defTabSz="609585" rtl="0" eaLnBrk="1" latinLnBrk="0" hangingPunct="1">
        <a:lnSpc>
          <a:spcPct val="85000"/>
        </a:lnSpc>
        <a:spcBef>
          <a:spcPts val="0"/>
        </a:spcBef>
        <a:buNone/>
        <a:defRPr sz="3733" kern="1200" spc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92601" indent="-292601" algn="l" defTabSz="609585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94927" indent="-243834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◦"/>
        <a:tabLst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36294" indent="-243834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–"/>
        <a:tabLst/>
        <a:defRPr sz="18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7662" indent="-219451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»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84920" indent="-134109" algn="l" defTabSz="609585" rtl="0" eaLnBrk="1" latinLnBrk="0" hangingPunct="1">
        <a:spcBef>
          <a:spcPts val="0"/>
        </a:spcBef>
        <a:spcAft>
          <a:spcPts val="1200"/>
        </a:spcAft>
        <a:buFont typeface="System Font Regular"/>
        <a:buChar char="∙"/>
        <a:tabLst/>
        <a:defRPr sz="13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5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112CF7-0A0E-DD05-A529-C58967A02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James Niffenegger</a:t>
            </a:r>
          </a:p>
          <a:p>
            <a:r>
              <a:rPr lang="en-US" dirty="0"/>
              <a:t>May 5,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89D19-9682-48C7-03ED-05B6AD1D0C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Variable Mass BEM Analysis Summary</a:t>
            </a:r>
          </a:p>
        </p:txBody>
      </p:sp>
    </p:spTree>
    <p:extLst>
      <p:ext uri="{BB962C8B-B14F-4D97-AF65-F5344CB8AC3E}">
        <p14:creationId xmlns:p14="http://schemas.microsoft.com/office/powerpoint/2010/main" val="404846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02E6D-57E6-2E18-B288-019D7467F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206" y="4447434"/>
            <a:ext cx="11377588" cy="19374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Meshes (.</a:t>
            </a:r>
            <a:r>
              <a:rPr lang="en-US" dirty="0" err="1"/>
              <a:t>gdf</a:t>
            </a:r>
            <a:r>
              <a:rPr lang="en-US" dirty="0"/>
              <a:t> files) made in Cubit of OC4 geometry with draft of 28 m</a:t>
            </a:r>
          </a:p>
          <a:p>
            <a:pPr lvl="1"/>
            <a:r>
              <a:rPr lang="en-US" dirty="0"/>
              <a:t>Uniform surface meshes with sizes listed above</a:t>
            </a:r>
          </a:p>
          <a:p>
            <a:r>
              <a:rPr lang="en-US" dirty="0"/>
              <a:t>Capytaine used to calculate hydrostatics and hydrodynamics for drafts between 24 and 28 m (in intervals of 0.4 m)</a:t>
            </a:r>
          </a:p>
          <a:p>
            <a:pPr lvl="1"/>
            <a:r>
              <a:rPr lang="en-US" dirty="0"/>
              <a:t>Capytaine also used to reduce draft of the meshes from 28 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845CF6-C308-7597-162E-C9CDEC1C68F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217327" y="-5217320"/>
            <a:ext cx="1134379" cy="11569035"/>
          </a:xfrm>
        </p:spPr>
        <p:txBody>
          <a:bodyPr>
            <a:normAutofit/>
          </a:bodyPr>
          <a:lstStyle/>
          <a:p>
            <a:r>
              <a:rPr lang="en-US" dirty="0"/>
              <a:t>Mesh Sizes Considered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37AB8-337A-BACA-9E4B-BEF1B4140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9" b="2225"/>
          <a:stretch>
            <a:fillRect/>
          </a:stretch>
        </p:blipFill>
        <p:spPr>
          <a:xfrm>
            <a:off x="8429718" y="1336476"/>
            <a:ext cx="3432187" cy="2592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DE1B55-73D2-21E6-A708-70DCA16198F1}"/>
              </a:ext>
            </a:extLst>
          </p:cNvPr>
          <p:cNvSpPr txBox="1"/>
          <p:nvPr/>
        </p:nvSpPr>
        <p:spPr>
          <a:xfrm>
            <a:off x="8648784" y="3933011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Mesh Size: 0.75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27EA8E-7F55-CD92-C449-631A3C755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583" y="1336477"/>
            <a:ext cx="3679995" cy="2592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435F7A-F5B0-DED0-1C31-8E0789789BAF}"/>
              </a:ext>
            </a:extLst>
          </p:cNvPr>
          <p:cNvSpPr txBox="1"/>
          <p:nvPr/>
        </p:nvSpPr>
        <p:spPr>
          <a:xfrm>
            <a:off x="4822553" y="3933011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Mesh Size: 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171078-B912-3253-EB6E-3473D8A19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36" y="1355579"/>
            <a:ext cx="3903107" cy="25539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2AE0B7-535E-E90F-5019-D13821CECA7A}"/>
              </a:ext>
            </a:extLst>
          </p:cNvPr>
          <p:cNvSpPr txBox="1"/>
          <p:nvPr/>
        </p:nvSpPr>
        <p:spPr>
          <a:xfrm>
            <a:off x="760862" y="3933011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Mesh Size: 1.25</a:t>
            </a:r>
          </a:p>
        </p:txBody>
      </p:sp>
    </p:spTree>
    <p:extLst>
      <p:ext uri="{BB962C8B-B14F-4D97-AF65-F5344CB8AC3E}">
        <p14:creationId xmlns:p14="http://schemas.microsoft.com/office/powerpoint/2010/main" val="216199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3E8CB1-EF2E-A55A-6478-D72A40C4BE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2463" y="5045819"/>
            <a:ext cx="10087073" cy="1402278"/>
          </a:xfrm>
        </p:spPr>
        <p:txBody>
          <a:bodyPr>
            <a:normAutofit/>
          </a:bodyPr>
          <a:lstStyle/>
          <a:p>
            <a:r>
              <a:rPr lang="en-US" dirty="0"/>
              <a:t>All meshes cut at waterline with lids added to them (purple)</a:t>
            </a:r>
          </a:p>
          <a:p>
            <a:pPr lvl="1"/>
            <a:r>
              <a:rPr lang="en-US" dirty="0"/>
              <a:t>All shifted 0.0001 above waterline to reduce error</a:t>
            </a:r>
          </a:p>
          <a:p>
            <a:r>
              <a:rPr lang="en-US" dirty="0"/>
              <a:t>Lid max face radius = 0.6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2D272-EAFB-7E1F-DDCD-3D85832C554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Capytaine Mesh Adjustments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C0A13-2CA3-A023-F970-EE23AA8A2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26" y="1428156"/>
            <a:ext cx="3716137" cy="2986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861A47-7DE7-E216-6A4A-0D2FE2C33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98" y="1428156"/>
            <a:ext cx="3725350" cy="29862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0B5C21-BCE8-461D-47E9-92A714E9D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983" y="1428156"/>
            <a:ext cx="3668256" cy="2954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0C6909-F0EB-B72B-7854-B5E55DC4316C}"/>
              </a:ext>
            </a:extLst>
          </p:cNvPr>
          <p:cNvSpPr txBox="1"/>
          <p:nvPr/>
        </p:nvSpPr>
        <p:spPr>
          <a:xfrm>
            <a:off x="534467" y="4448384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Draft: 24 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74E4E-F99C-208C-9014-63BBEB548596}"/>
              </a:ext>
            </a:extLst>
          </p:cNvPr>
          <p:cNvSpPr txBox="1"/>
          <p:nvPr/>
        </p:nvSpPr>
        <p:spPr>
          <a:xfrm>
            <a:off x="4623746" y="4448384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Draft: 26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9B050-FB06-B964-ABB2-622DC9B63A04}"/>
              </a:ext>
            </a:extLst>
          </p:cNvPr>
          <p:cNvSpPr txBox="1"/>
          <p:nvPr/>
        </p:nvSpPr>
        <p:spPr>
          <a:xfrm>
            <a:off x="8713025" y="4448384"/>
            <a:ext cx="299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Draft: 28 m</a:t>
            </a:r>
          </a:p>
        </p:txBody>
      </p:sp>
    </p:spTree>
    <p:extLst>
      <p:ext uri="{BB962C8B-B14F-4D97-AF65-F5344CB8AC3E}">
        <p14:creationId xmlns:p14="http://schemas.microsoft.com/office/powerpoint/2010/main" val="165015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CBA89F-89DB-98D0-54C9-C5976E09198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13960" y="1335673"/>
                <a:ext cx="11364079" cy="547502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Know the center of gravity (-13.46 m) for the 26 m draft model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) so any change in draft is due to changes in water volume in the upper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and lower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) ballasts</a:t>
                </a:r>
              </a:p>
              <a:p>
                <a:r>
                  <a:rPr lang="en-US" dirty="0"/>
                  <a:t>Change in displaced volume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) determined using Capytaine: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simplicity: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and mass is determined using water density (1,025 kg/m</a:t>
                </a:r>
                <a:r>
                  <a:rPr lang="en-US" baseline="30000" dirty="0"/>
                  <a:t>3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Center of mass of these positive or negative volumes found using dimensions and the water levels in these cylinders according to the OC4’s specifications </a:t>
                </a:r>
              </a:p>
              <a:p>
                <a:pPr lvl="1"/>
                <a:r>
                  <a:rPr lang="en-US" dirty="0"/>
                  <a:t>And the change in draft</a:t>
                </a:r>
              </a:p>
              <a:p>
                <a:r>
                  <a:rPr lang="en-US" dirty="0"/>
                  <a:t>Center of Gravity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𝑐𝑔</m:t>
                        </m:r>
                      </m:sub>
                    </m:sSub>
                  </m:oMath>
                </a14:m>
                <a:r>
                  <a:rPr lang="en-US" dirty="0"/>
                  <a:t>)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the mass of the 3 different bodies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is the change in draft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CBA89F-89DB-98D0-54C9-C5976E0919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13960" y="1335673"/>
                <a:ext cx="11364079" cy="5475024"/>
              </a:xfrm>
              <a:blipFill>
                <a:blip r:embed="rId2"/>
                <a:stretch>
                  <a:fillRect l="-1556" t="-1559" r="-2200" b="-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26250-36C1-E53F-3C8C-CE031CCA4A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Center of Gravity Calculations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E3673-7D34-D910-D785-127C42951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" t="36296" r="61654" b="51171"/>
          <a:stretch>
            <a:fillRect/>
          </a:stretch>
        </p:blipFill>
        <p:spPr>
          <a:xfrm>
            <a:off x="6934373" y="4067519"/>
            <a:ext cx="4843666" cy="240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2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0AD1D-38AB-ECD8-DA3E-9C8095A43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Change in Center of Gravity with Draft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1AF2F-7267-D987-A41C-4D5CD2042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4" y="1430267"/>
            <a:ext cx="5653778" cy="4308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1F2EA7-DF7B-324D-BAC5-F0A9D3141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421" y="1313986"/>
            <a:ext cx="5847349" cy="45409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492A010-9AC6-5F63-3EBC-4AAA4733A8EA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42229" y="5896315"/>
                <a:ext cx="11226802" cy="8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Considering the change in ballast volume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) insignificantly changes the center of gravity vs only accounting for the change in draft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492A010-9AC6-5F63-3EBC-4AAA4733A8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42229" y="5896315"/>
                <a:ext cx="11226802" cy="851338"/>
              </a:xfrm>
              <a:blipFill>
                <a:blip r:embed="rId4"/>
                <a:stretch>
                  <a:fillRect l="-1520" t="-10000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36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564675-EE07-CF33-52CF-A80A6FC7C1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344E0-6BC4-A40A-2796-FCD3C87A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Mass at Infinity Comparison</a:t>
            </a:r>
          </a:p>
        </p:txBody>
      </p:sp>
    </p:spTree>
    <p:extLst>
      <p:ext uri="{BB962C8B-B14F-4D97-AF65-F5344CB8AC3E}">
        <p14:creationId xmlns:p14="http://schemas.microsoft.com/office/powerpoint/2010/main" val="131757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6F8DDC-51D6-6630-2E68-F960A7078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209540"/>
            <a:ext cx="7531281" cy="56484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437B6-BE8A-0627-CC3F-DF56A6B3F3D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Added Mass at Infinity in Surge 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B15BDB9-70DF-962F-5D1C-AE8B3AAF00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90045" y="2787774"/>
            <a:ext cx="4478986" cy="2491991"/>
          </a:xfrm>
        </p:spPr>
        <p:txBody>
          <a:bodyPr/>
          <a:lstStyle/>
          <a:p>
            <a:r>
              <a:rPr lang="en-US" dirty="0"/>
              <a:t>Added mass (at infinity) in surge increases with increasing draft almost linearly</a:t>
            </a:r>
          </a:p>
          <a:p>
            <a:r>
              <a:rPr lang="en-US" dirty="0"/>
              <a:t>The added mass also decreases with decreasing mesh size</a:t>
            </a:r>
          </a:p>
        </p:txBody>
      </p:sp>
    </p:spTree>
    <p:extLst>
      <p:ext uri="{BB962C8B-B14F-4D97-AF65-F5344CB8AC3E}">
        <p14:creationId xmlns:p14="http://schemas.microsoft.com/office/powerpoint/2010/main" val="133389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8E8BF7-3D4E-C836-1CDC-9504F0FE9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9535"/>
            <a:ext cx="7531280" cy="564846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A691C1-B304-6B61-953D-2A944AF8F9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20991" y="2361748"/>
            <a:ext cx="4448040" cy="3344034"/>
          </a:xfrm>
        </p:spPr>
        <p:txBody>
          <a:bodyPr/>
          <a:lstStyle/>
          <a:p>
            <a:r>
              <a:rPr lang="en-US" dirty="0"/>
              <a:t>Added mass (at infinity) in heave increases with draft </a:t>
            </a:r>
          </a:p>
          <a:p>
            <a:r>
              <a:rPr lang="en-US" dirty="0"/>
              <a:t>Added mass varies with mesh size</a:t>
            </a:r>
          </a:p>
          <a:p>
            <a:pPr lvl="1"/>
            <a:r>
              <a:rPr lang="en-US" dirty="0"/>
              <a:t>Lowest added mass occurs with medium mesh size</a:t>
            </a:r>
          </a:p>
          <a:p>
            <a:pPr lvl="1"/>
            <a:r>
              <a:rPr lang="en-US" dirty="0"/>
              <a:t>Highest added mass occurs with smallest mesh size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EF5DC-D268-7A23-5770-74D2D61F8D9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Added Mass at Infinity in Heave</a:t>
            </a:r>
          </a:p>
        </p:txBody>
      </p:sp>
    </p:spTree>
    <p:extLst>
      <p:ext uri="{BB962C8B-B14F-4D97-AF65-F5344CB8AC3E}">
        <p14:creationId xmlns:p14="http://schemas.microsoft.com/office/powerpoint/2010/main" val="1556857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47A14A-79CC-D257-614B-61B594F62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209535"/>
            <a:ext cx="7531280" cy="564846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56551-EB6E-4829-EFDE-1326DE6ED8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5794" y="3005065"/>
            <a:ext cx="4553237" cy="2057400"/>
          </a:xfrm>
        </p:spPr>
        <p:txBody>
          <a:bodyPr/>
          <a:lstStyle/>
          <a:p>
            <a:r>
              <a:rPr lang="en-US" dirty="0"/>
              <a:t>Added mass (at infinity) in heave increases with draft </a:t>
            </a:r>
          </a:p>
          <a:p>
            <a:r>
              <a:rPr lang="en-US" dirty="0"/>
              <a:t>Added mass nearly identical between mesh sizes of 0.75 and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9D61B-9560-45EC-BFE5-0447C575FB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 rot="5400000">
            <a:off x="5179750" y="-5179746"/>
            <a:ext cx="1209529" cy="11569032"/>
          </a:xfrm>
        </p:spPr>
        <p:txBody>
          <a:bodyPr/>
          <a:lstStyle/>
          <a:p>
            <a:r>
              <a:rPr lang="en-US" dirty="0"/>
              <a:t>Added Mass at Infinity in Pitch</a:t>
            </a:r>
          </a:p>
        </p:txBody>
      </p:sp>
    </p:spTree>
    <p:extLst>
      <p:ext uri="{BB962C8B-B14F-4D97-AF65-F5344CB8AC3E}">
        <p14:creationId xmlns:p14="http://schemas.microsoft.com/office/powerpoint/2010/main" val="338715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1722B-CA39-6BAA-7D24-DA1C8F81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2A0E4A-8C9C-27B0-1548-D0AD49B52A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Results for one draft size (24 m) for simplicity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2C7BC7-854F-64DC-876F-9DCF2527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Comparison for Added Mass &amp; Radiation Damping</a:t>
            </a:r>
          </a:p>
        </p:txBody>
      </p:sp>
    </p:spTree>
    <p:extLst>
      <p:ext uri="{BB962C8B-B14F-4D97-AF65-F5344CB8AC3E}">
        <p14:creationId xmlns:p14="http://schemas.microsoft.com/office/powerpoint/2010/main" val="292435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B9C97-6AAB-855E-83BA-C9D40F1DA5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Surge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DEC25-E6FF-A353-6F66-D367D60B7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/>
          <a:stretch>
            <a:fillRect/>
          </a:stretch>
        </p:blipFill>
        <p:spPr>
          <a:xfrm>
            <a:off x="750921" y="1209539"/>
            <a:ext cx="10067184" cy="5648461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EAF23C8-85B6-70E5-58F3-12268E9652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2636" y="3867994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Added mass decreases with decreasing mesh size</a:t>
            </a:r>
          </a:p>
        </p:txBody>
      </p:sp>
    </p:spTree>
    <p:extLst>
      <p:ext uri="{BB962C8B-B14F-4D97-AF65-F5344CB8AC3E}">
        <p14:creationId xmlns:p14="http://schemas.microsoft.com/office/powerpoint/2010/main" val="2702846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1270A-B985-7543-1781-7ADC0B2FFA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Heave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82E5B-86E5-E7E3-1CA0-08913D98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47" y="1209534"/>
            <a:ext cx="11474506" cy="56511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06B7C0A-04A7-26B1-104C-DF925307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2983883"/>
            <a:ext cx="4265796" cy="890234"/>
          </a:xfrm>
        </p:spPr>
        <p:txBody>
          <a:bodyPr>
            <a:normAutofit/>
          </a:bodyPr>
          <a:lstStyle/>
          <a:p>
            <a:r>
              <a:rPr lang="en-US" dirty="0"/>
              <a:t>Added mass varies inconsistently with mesh size</a:t>
            </a:r>
          </a:p>
        </p:txBody>
      </p:sp>
    </p:spTree>
    <p:extLst>
      <p:ext uri="{BB962C8B-B14F-4D97-AF65-F5344CB8AC3E}">
        <p14:creationId xmlns:p14="http://schemas.microsoft.com/office/powerpoint/2010/main" val="3473823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FECA1-3A9A-335A-2D73-CC65B31A73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Pitch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72A17-01D2-17A2-65BA-020739819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13" y="1209534"/>
            <a:ext cx="11705774" cy="5648466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5946A21-A50A-AD6E-750F-A536877D04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0427" y="2840305"/>
            <a:ext cx="3993364" cy="1238081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 0.75 and 1</a:t>
            </a:r>
          </a:p>
        </p:txBody>
      </p:sp>
    </p:spTree>
    <p:extLst>
      <p:ext uri="{BB962C8B-B14F-4D97-AF65-F5344CB8AC3E}">
        <p14:creationId xmlns:p14="http://schemas.microsoft.com/office/powerpoint/2010/main" val="2011636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516BC-969F-1BBD-B690-B889347D70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Surge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C2FB9-61C5-41B8-9E63-13325F832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49" y="1209534"/>
            <a:ext cx="9872283" cy="5652071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8E4FC93-0319-BBE3-1746-7CA0442F9E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01790" y="2635538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Decrease with decreasing mesh size</a:t>
            </a:r>
          </a:p>
        </p:txBody>
      </p:sp>
    </p:spTree>
    <p:extLst>
      <p:ext uri="{BB962C8B-B14F-4D97-AF65-F5344CB8AC3E}">
        <p14:creationId xmlns:p14="http://schemas.microsoft.com/office/powerpoint/2010/main" val="81211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23EFD-36B2-C8C3-19AF-4C66526948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Heave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81D56-8107-DFA9-0D18-D8D1DC7D9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89" y="1209534"/>
            <a:ext cx="10335022" cy="5646084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BF9956A-7AF3-F3C3-7F7E-A5958F994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5797" y="2538766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Vary inconsistently with mesh size</a:t>
            </a:r>
          </a:p>
        </p:txBody>
      </p:sp>
    </p:spTree>
    <p:extLst>
      <p:ext uri="{BB962C8B-B14F-4D97-AF65-F5344CB8AC3E}">
        <p14:creationId xmlns:p14="http://schemas.microsoft.com/office/powerpoint/2010/main" val="2171700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E0E67-B64C-FBD2-91D2-4A43946A56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Pitch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4F9A2-27FB-A475-24B4-DE64877C6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0" y="1209529"/>
            <a:ext cx="12060819" cy="5648466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5DFE078-E702-DCC5-66E8-2CA0CC4145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94810" y="2789619"/>
            <a:ext cx="3993364" cy="1780467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 between mesh sizes</a:t>
            </a:r>
          </a:p>
          <a:p>
            <a:r>
              <a:rPr lang="en-US" dirty="0"/>
              <a:t>Vary inconsistently with mesh size</a:t>
            </a:r>
          </a:p>
        </p:txBody>
      </p:sp>
    </p:spTree>
    <p:extLst>
      <p:ext uri="{BB962C8B-B14F-4D97-AF65-F5344CB8AC3E}">
        <p14:creationId xmlns:p14="http://schemas.microsoft.com/office/powerpoint/2010/main" val="385273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BDA2-FFC4-139F-6AAD-943B9145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AB5B0C-A37B-B8D6-1BAC-FCC6D7D362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Results for one mesh size (0.75) for simplicity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955753-B169-C178-50FA-07AFB87C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Comparison for Added Mass &amp; Radiation Damping</a:t>
            </a:r>
          </a:p>
        </p:txBody>
      </p:sp>
    </p:spTree>
    <p:extLst>
      <p:ext uri="{BB962C8B-B14F-4D97-AF65-F5344CB8AC3E}">
        <p14:creationId xmlns:p14="http://schemas.microsoft.com/office/powerpoint/2010/main" val="104608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4A6A2-6FBD-503F-2EDE-CB0796A9BC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Surge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A9F0F-1426-580C-0AFA-668944994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69" y="1209534"/>
            <a:ext cx="9892262" cy="5651183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DFA83772-4A8D-82AD-D347-162D54DF14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3693" y="2592499"/>
            <a:ext cx="3993364" cy="1307861"/>
          </a:xfrm>
        </p:spPr>
        <p:txBody>
          <a:bodyPr>
            <a:normAutofit/>
          </a:bodyPr>
          <a:lstStyle/>
          <a:p>
            <a:r>
              <a:rPr lang="en-US" dirty="0"/>
              <a:t>Added mass consistently increases with increasing draft at 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554348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BADD9-7C61-C4F8-9CB1-0725B7DCA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Heave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11612-3424-3A8E-67A8-99DB29462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54" y="1209534"/>
            <a:ext cx="11619691" cy="5648461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9C9958B-5307-700F-5FCF-C733FFA5D8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96276" y="1945137"/>
            <a:ext cx="5089889" cy="2149434"/>
          </a:xfrm>
        </p:spPr>
        <p:txBody>
          <a:bodyPr>
            <a:normAutofit/>
          </a:bodyPr>
          <a:lstStyle/>
          <a:p>
            <a:r>
              <a:rPr lang="en-US" dirty="0"/>
              <a:t>Added mass decreases with increasing draft at low frequencies (&lt;1 rad/s)</a:t>
            </a:r>
          </a:p>
          <a:p>
            <a:r>
              <a:rPr lang="en-US" dirty="0"/>
              <a:t>Added mass increases with increasing draft above 1 rad/s</a:t>
            </a:r>
          </a:p>
        </p:txBody>
      </p:sp>
    </p:spTree>
    <p:extLst>
      <p:ext uri="{BB962C8B-B14F-4D97-AF65-F5344CB8AC3E}">
        <p14:creationId xmlns:p14="http://schemas.microsoft.com/office/powerpoint/2010/main" val="1676728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5E7DA-4F8D-3080-B0B9-69C86DFF20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Added Mass in Pitch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9710D-DC24-B450-C7F8-62FC2CD1E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34" y="1209534"/>
            <a:ext cx="11296932" cy="5648466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FED76B4-D59C-0FE1-BABE-A7A16621B2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5074" y="1888492"/>
            <a:ext cx="3993364" cy="1307861"/>
          </a:xfrm>
        </p:spPr>
        <p:txBody>
          <a:bodyPr>
            <a:normAutofit/>
          </a:bodyPr>
          <a:lstStyle/>
          <a:p>
            <a:r>
              <a:rPr lang="en-US" dirty="0"/>
              <a:t>Added mass consistently increases with increasing draft at 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2677562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4CEF0-0FAB-730D-7866-1856845024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Surge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EF208-8099-5BBA-1D6D-95A8DF244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17" y="1206192"/>
            <a:ext cx="10819166" cy="5651803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C349EB3-9445-D870-B48B-66FBDEA653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08374" y="2001782"/>
            <a:ext cx="4078387" cy="2149434"/>
          </a:xfrm>
        </p:spPr>
        <p:txBody>
          <a:bodyPr>
            <a:normAutofit/>
          </a:bodyPr>
          <a:lstStyle/>
          <a:p>
            <a:r>
              <a:rPr lang="en-US" dirty="0"/>
              <a:t>Results nearly identical</a:t>
            </a:r>
          </a:p>
          <a:p>
            <a:r>
              <a:rPr lang="en-US" dirty="0"/>
              <a:t>Radiation damping varies inconsistently with increasing draft</a:t>
            </a:r>
          </a:p>
        </p:txBody>
      </p:sp>
    </p:spTree>
    <p:extLst>
      <p:ext uri="{BB962C8B-B14F-4D97-AF65-F5344CB8AC3E}">
        <p14:creationId xmlns:p14="http://schemas.microsoft.com/office/powerpoint/2010/main" val="652700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4B5A7-A854-3C46-8C58-F9E6F57A21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Heave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0C17B-36B5-A340-3496-AC79734B3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29" y="1209539"/>
            <a:ext cx="10662142" cy="5648461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1606BFA-BB83-DA0F-D5B6-F6C58C2E06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5074" y="1888492"/>
            <a:ext cx="3993364" cy="1663912"/>
          </a:xfrm>
        </p:spPr>
        <p:txBody>
          <a:bodyPr>
            <a:normAutofit/>
          </a:bodyPr>
          <a:lstStyle/>
          <a:p>
            <a:r>
              <a:rPr lang="en-US" dirty="0"/>
              <a:t>Radiation damping consistently increases with increasing draft at 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1517774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84013-B188-DDDA-BAD0-FCD69563C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Radiation Damping in Pitch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5729EA-21DC-F357-5B8D-FBD6DE194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4" y="1209534"/>
            <a:ext cx="12039291" cy="5648461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70662EF-3AF8-6F15-1F97-52A18C5B94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76419" y="1676075"/>
            <a:ext cx="3993364" cy="1663912"/>
          </a:xfrm>
        </p:spPr>
        <p:txBody>
          <a:bodyPr>
            <a:normAutofit/>
          </a:bodyPr>
          <a:lstStyle/>
          <a:p>
            <a:r>
              <a:rPr lang="en-US" dirty="0"/>
              <a:t>Radiation damping decreases with increasing draft at frequencies below 1 rad/s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0908C96-2496-78E3-F003-165805A2447B}"/>
              </a:ext>
            </a:extLst>
          </p:cNvPr>
          <p:cNvSpPr txBox="1">
            <a:spLocks/>
          </p:cNvSpPr>
          <p:nvPr/>
        </p:nvSpPr>
        <p:spPr>
          <a:xfrm>
            <a:off x="6479438" y="1676075"/>
            <a:ext cx="3295741" cy="16639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92601" indent="-292601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94927" indent="-243834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◦"/>
              <a:tabLst/>
              <a:defRPr sz="21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36294" indent="-243834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–"/>
              <a:tabLst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7662" indent="-219451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»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84920" indent="-134109" algn="l" defTabSz="609585" rtl="0" eaLnBrk="1" latinLnBrk="0" hangingPunct="1">
              <a:spcBef>
                <a:spcPts val="0"/>
              </a:spcBef>
              <a:spcAft>
                <a:spcPts val="1200"/>
              </a:spcAft>
              <a:buFont typeface="System Font Regular"/>
              <a:buChar char="∙"/>
              <a:tabLst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Radiation damping increases with increasing draft at higher frequencies</a:t>
            </a:r>
          </a:p>
        </p:txBody>
      </p:sp>
    </p:spTree>
    <p:extLst>
      <p:ext uri="{BB962C8B-B14F-4D97-AF65-F5344CB8AC3E}">
        <p14:creationId xmlns:p14="http://schemas.microsoft.com/office/powerpoint/2010/main" val="2848478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LR Color Palette">
      <a:dk1>
        <a:srgbClr val="000000"/>
      </a:dk1>
      <a:lt1>
        <a:srgbClr val="FFFFFF"/>
      </a:lt1>
      <a:dk2>
        <a:srgbClr val="0075BB"/>
      </a:dk2>
      <a:lt2>
        <a:srgbClr val="F6F3F1"/>
      </a:lt2>
      <a:accent1>
        <a:srgbClr val="003A69"/>
      </a:accent1>
      <a:accent2>
        <a:srgbClr val="DB9728"/>
      </a:accent2>
      <a:accent3>
        <a:srgbClr val="D57C5C"/>
      </a:accent3>
      <a:accent4>
        <a:srgbClr val="872C15"/>
      </a:accent4>
      <a:accent5>
        <a:srgbClr val="819E7E"/>
      </a:accent5>
      <a:accent6>
        <a:srgbClr val="1A584D"/>
      </a:accent6>
      <a:hlink>
        <a:srgbClr val="0076BA"/>
      </a:hlink>
      <a:folHlink>
        <a:srgbClr val="00A3E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EEEE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54E6CC0-2E26-4CBD-8BE4-FD03702DD5DF}" vid="{753F4348-6825-4149-B445-0FDEF6FC5FA9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631</Words>
  <Application>Microsoft Office PowerPoint</Application>
  <PresentationFormat>Widescreen</PresentationFormat>
  <Paragraphs>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Cambria Math</vt:lpstr>
      <vt:lpstr>System Font Regular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Added Mass at Infinity Comparison</vt:lpstr>
      <vt:lpstr>PowerPoint Presentation</vt:lpstr>
      <vt:lpstr>PowerPoint Presentation</vt:lpstr>
      <vt:lpstr>PowerPoint Presentation</vt:lpstr>
      <vt:lpstr>Mesh Comparison for Added Mass &amp; Radiation Damping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Draft Comparison for Added Mass &amp; Radiation Damping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Niffenegger, James</dc:creator>
  <cp:lastModifiedBy>Niffenegger, James</cp:lastModifiedBy>
  <cp:revision>6</cp:revision>
  <dcterms:created xsi:type="dcterms:W3CDTF">2026-05-05T20:41:55Z</dcterms:created>
  <dcterms:modified xsi:type="dcterms:W3CDTF">2026-05-06T20:08:47Z</dcterms:modified>
</cp:coreProperties>
</file>